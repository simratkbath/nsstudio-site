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NS STUDIO · CLIENT PROPOSAL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{{CLIENT NAME}}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C445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Sprint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5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Prepared by Simrat Bath  ·  NS Studio LLC  ·  {{DATE}}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955280" y="4828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</a:t>
            </a:r>
            <a:pPr algn="r" indent="0" marL="0">
              <a:buNone/>
            </a:pPr>
            <a:r>
              <a:rPr lang="en-US" sz="1100" dirty="0">
                <a:solidFill>
                  <a:srgbClr val="1A161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NS</a:t>
            </a:r>
            <a:pPr algn="r" indent="0" marL="0">
              <a:buNone/>
            </a:pPr>
            <a:r>
              <a:rPr lang="en-US" sz="1100" dirty="0">
                <a:solidFill>
                  <a:srgbClr val="1A161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 xml:space="preserve"> /</a:t>
            </a:r>
            <a:pPr algn="r" indent="0" marL="0">
              <a:buNone/>
            </a:pPr>
            <a:r>
              <a:rPr lang="en-US" sz="110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/ WHERE YOU ARE TODAY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AI initiatives. One budget.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 disagrees.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445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 xml:space="preserve">{{Specific situation 1}} </a:t>
            </a:r>
            <a:pPr indent="0" marL="0">
              <a:buNone/>
            </a:pPr>
            <a:r>
              <a:rPr lang="en-US" sz="14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a placeholder describing the most painful internal disagreement on AI direction.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445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 xml:space="preserve">{{Specific situation 2}} </a:t>
            </a:r>
            <a:pPr indent="0" marL="0">
              <a:buNone/>
            </a:pPr>
            <a:r>
              <a:rPr lang="en-US" sz="14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a placeholder describing a pilot that has run for months without a defendable ROI.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445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 xml:space="preserve">{{Specific situation 3}} </a:t>
            </a:r>
            <a:pPr indent="0" marL="0">
              <a:buNone/>
            </a:pPr>
            <a:r>
              <a:rPr lang="en-US" sz="14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a placeholder describing duplicate vendor spend or competing internal builds.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445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 xml:space="preserve">{{Specific situation 4}} </a:t>
            </a:r>
            <a:pPr indent="0" marL="0">
              <a:buNone/>
            </a:pPr>
            <a:r>
              <a:rPr lang="en-US" sz="14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a placeholder describing the decision the team keeps deferring to next quarter.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5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WHAT IT’S COSTING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quarter without a kill list is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quarter you pay twice.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${{X}}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886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pilots without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defendable ROI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${{Y}}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91840" y="3886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duplicate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vendor spend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{{Z}} mo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126480" y="3886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decisions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deferred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THE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4–6 week Strategy Sprint.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06908" y="2194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06908" y="24871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06908" y="3063240"/>
            <a:ext cx="457200" cy="18288"/>
          </a:xfrm>
          <a:prstGeom prst="rect">
            <a:avLst/>
          </a:prstGeom>
          <a:solidFill>
            <a:srgbClr val="C44510"/>
          </a:solidFill>
          <a:ln w="12700">
            <a:solidFill>
              <a:srgbClr val="C445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6908" y="320040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sit with the roadmap, the vendors, the pilots, and the disagreements. Two weeks of structured listening before any opinion is committed to paper.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68980" y="2194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68980" y="24871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268980" y="3063240"/>
            <a:ext cx="457200" cy="18288"/>
          </a:xfrm>
          <a:prstGeom prst="rect">
            <a:avLst/>
          </a:prstGeom>
          <a:solidFill>
            <a:srgbClr val="C44510"/>
          </a:solidFill>
          <a:ln w="12700">
            <a:solidFill>
              <a:srgbClr val="C445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8980" y="320040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initiative scored on the same axes: defendable ROI, time-to-value, vendor risk, opportunity cost. Same framework, every engagement.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31052" y="2194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1052" y="24871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131052" y="3063240"/>
            <a:ext cx="457200" cy="18288"/>
          </a:xfrm>
          <a:prstGeom prst="rect">
            <a:avLst/>
          </a:prstGeom>
          <a:solidFill>
            <a:srgbClr val="C44510"/>
          </a:solidFill>
          <a:ln w="12700">
            <a:solidFill>
              <a:srgbClr val="C445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1052" y="320040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kill list, a ranked ROI scorecard, and a 90-day execution plan a CEO and CFO can both sign without rewriting it.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5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HOW WE THINK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7863840" cy="3703320"/>
          </a:xfrm>
          <a:prstGeom prst="roundRect">
            <a:avLst>
              <a:gd name="adj" fmla="val 3704"/>
            </a:avLst>
          </a:prstGeom>
          <a:solidFill>
            <a:srgbClr val="0F0C09"/>
          </a:solidFill>
          <a:ln w="12700">
            <a:solidFill>
              <a:srgbClr val="2C26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005840"/>
            <a:ext cx="34747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&lt;role&gt;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Act as an AI product evaluator who has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reviewed hundreds of pilots and knows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which ones pay back and which ones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quietly die.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&lt;/role&gt;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&lt;task&gt;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Pressure-test the roadmap. Find every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fatal flaw before another quarter is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wasted on the wrong thing.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&lt;/task&gt;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34747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&lt;rules&gt;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Every flaw specific to this business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Verdict direct — never "it has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 xml:space="preserve">  potential but"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Fatal flaws ranked by severity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&lt;/rules&gt;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&lt;output&gt;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Verdict → Three Fatal Flaws →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Highest-Profit Product → 90-Day Plan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&lt;/output&gt;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F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Same diagnostic. Every engagement.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/ WHAT YOU GET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artifacts. One conversation.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25780" y="2240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8700" y="2240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One-page strategic memo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870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D45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Written so a CEO and CFO can sign it without rewriting a sentence.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86300" y="2240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89220" y="2240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Ranked ROI scorecard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18922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D45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initiative scored on the same axes — defendable, comparable, falsifiable.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5780" y="3794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8700" y="3794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Explicit kill list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28700" y="42519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D45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artifact internal teams cannot write themselves. Specific, named, dated.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6300" y="3794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89220" y="3794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90-day execution plan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89220" y="42519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D45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Weekly milestones with owners, decision gates, and a clean exit if reality changes.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5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TIMELINE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weeks. Three phases.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D45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4572" cy="1783080"/>
          </a:xfrm>
          <a:prstGeom prst="rect">
            <a:avLst/>
          </a:prstGeom>
          <a:solidFill>
            <a:srgbClr val="C9BC97"/>
          </a:solidFill>
          <a:ln w="12700">
            <a:solidFill>
              <a:srgbClr val="C9BC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D45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2286000"/>
            <a:ext cx="4572" cy="1783080"/>
          </a:xfrm>
          <a:prstGeom prst="rect">
            <a:avLst/>
          </a:prstGeom>
          <a:solidFill>
            <a:srgbClr val="C9BC97"/>
          </a:solidFill>
          <a:ln w="12700">
            <a:solidFill>
              <a:srgbClr val="C9BC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D45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2286000"/>
            <a:ext cx="4572" cy="1783080"/>
          </a:xfrm>
          <a:prstGeom prst="rect">
            <a:avLst/>
          </a:prstGeom>
          <a:solidFill>
            <a:srgbClr val="C9BC97"/>
          </a:solidFill>
          <a:ln w="12700">
            <a:solidFill>
              <a:srgbClr val="C9BC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D45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286000"/>
            <a:ext cx="4572" cy="1783080"/>
          </a:xfrm>
          <a:prstGeom prst="rect">
            <a:avLst/>
          </a:prstGeom>
          <a:solidFill>
            <a:srgbClr val="C9BC97"/>
          </a:solidFill>
          <a:ln w="12700">
            <a:solidFill>
              <a:srgbClr val="C9B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D45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2286000"/>
            <a:ext cx="4572" cy="1783080"/>
          </a:xfrm>
          <a:prstGeom prst="rect">
            <a:avLst/>
          </a:prstGeom>
          <a:solidFill>
            <a:srgbClr val="C9BC97"/>
          </a:solidFill>
          <a:ln w="12700">
            <a:solidFill>
              <a:srgbClr val="C9BC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D45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2286000"/>
            <a:ext cx="4572" cy="1783080"/>
          </a:xfrm>
          <a:prstGeom prst="rect">
            <a:avLst/>
          </a:prstGeom>
          <a:solidFill>
            <a:srgbClr val="C9BC97"/>
          </a:solidFill>
          <a:ln w="12700">
            <a:solidFill>
              <a:srgbClr val="C9BC9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286000"/>
            <a:ext cx="4572" cy="1783080"/>
          </a:xfrm>
          <a:prstGeom prst="rect">
            <a:avLst/>
          </a:prstGeom>
          <a:solidFill>
            <a:srgbClr val="C9BC97"/>
          </a:solidFill>
          <a:ln w="12700">
            <a:solidFill>
              <a:srgbClr val="C9BC9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2423160"/>
            <a:ext cx="2487168" cy="384048"/>
          </a:xfrm>
          <a:prstGeom prst="roundRect">
            <a:avLst>
              <a:gd name="adj" fmla="val 11905"/>
            </a:avLst>
          </a:prstGeom>
          <a:solidFill>
            <a:srgbClr val="C44510"/>
          </a:solidFill>
          <a:ln w="12700">
            <a:solidFill>
              <a:srgbClr val="C445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242316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8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242316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W1–W2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28416" y="2971800"/>
            <a:ext cx="2487168" cy="384048"/>
          </a:xfrm>
          <a:prstGeom prst="roundRect">
            <a:avLst>
              <a:gd name="adj" fmla="val 11905"/>
            </a:avLst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297180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8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Diagnostic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93008" y="297180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W3–W4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88736" y="3520440"/>
            <a:ext cx="2487168" cy="384048"/>
          </a:xfrm>
          <a:prstGeom prst="roundRect">
            <a:avLst>
              <a:gd name="adj" fmla="val 11905"/>
            </a:avLst>
          </a:prstGeom>
          <a:solidFill>
            <a:srgbClr val="C44510"/>
          </a:solidFill>
          <a:ln w="12700">
            <a:solidFill>
              <a:srgbClr val="C445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352044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8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53328" y="352044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W5–W6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D45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Engagement runs concurrent with your normal operating cadence.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5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THE ARTIFACT YOU CAN’T WRITE YOURSELF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engagement ends with a kill list.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874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Vendor X enterprise renewal — ROI undefended after 9 months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286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Internal LLM fine-tuning project — duplicates a vendor offering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697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 center of excellence Slack channel — meetings without decisions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108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Customer support copilot v2 — v1 hasn’t shipped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520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"AI strategy" working group — six attendees, zero owners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8F7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Items above are illustrative. Yours will be specific.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/ INVESTMENT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$18,000  ·  4–6 weeks  ·  founder-led.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fixed-fee engagement: discovery, diagnostic, synthesis, and a 90-day plan. Billed 50% on signature, 50% on delivery. Includes weekly working sessions, all artifacts, and 30 days of post-delivery questions answered in writing. Three engagements per quarter, founder-led — no junior consultants on client work.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445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"If the engagement isn’t paying for itself by week two, we end it cleanly."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5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/ THE PARTNER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Simrat Bath, Founder.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{{Two-to-three sentence bio placeholder.}} Background spanning product, engineering leadership, and AI strategy work with operators who had to make the call themselves. Writes the memo the team needs, not the deck the room expects.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445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junior consultants on client work.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5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simratbath@gmail.com   ·   linkedin.com/in/simratbath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5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WHY NS STUDIO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60120" y="1280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most valuable thing we say is sometimes "don’t build that."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783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a deliverable could have been written by another consultancy, we should have used that consultancy.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286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Capacity is a feature.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788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Ship the decision, not the deck.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291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the engagement isn’t paying for itself by week two, end it cleanly.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steps from here.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202082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30-min discovery call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24414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5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working call — not a sales pitch. We talk through your roadmap and the disagreements behind it.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79806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Scoping memo within 3 days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32186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5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short written memo: what we’d look at, what we’d skip, and whether the sprint is the right call.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4451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357530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kickoff within 2 weeks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39959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5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Capacity permitting. Three engagements per quarter, founder-led.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443484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C44510"/>
          </a:solidFill>
          <a:ln w="12700">
            <a:solidFill>
              <a:srgbClr val="C445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4434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 xml:space="preserve">Book the call → </a:t>
            </a:r>
            <a:pPr algn="ctr" indent="0" marL="0">
              <a:buNone/>
            </a:pPr>
            <a:r>
              <a:rPr lang="en-US" sz="1600" dirty="0">
                <a:solidFill>
                  <a:srgbClr val="F4E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nsstudiollc.com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 Studio — Client Proposal Template</dc:title>
  <dc:subject>PptxGenJS Presentation</dc:subject>
  <dc:creator>PptxGenJS</dc:creator>
  <cp:lastModifiedBy>PptxGenJS</cp:lastModifiedBy>
  <cp:revision>1</cp:revision>
  <dcterms:created xsi:type="dcterms:W3CDTF">2026-04-27T16:59:59Z</dcterms:created>
  <dcterms:modified xsi:type="dcterms:W3CDTF">2026-04-27T16:59:59Z</dcterms:modified>
</cp:coreProperties>
</file>